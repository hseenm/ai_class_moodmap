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56BDAA-27E6-4E42-8680-DBA609D55BC1}">
  <a:tblStyle styleId="{E856BDAA-27E6-4E42-8680-DBA609D55B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1f02b2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51f02b2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1f02b23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51f02b23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51f02b23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e51f02b23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51f02b236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e51f02b236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5519" y="2060227"/>
            <a:ext cx="768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心情導向旅遊測驗系統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438400" y="3079402"/>
            <a:ext cx="73152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34344" y="3422300"/>
            <a:ext cx="519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結合 Gemini AI 的個性化彰化旅遊推薦專案</a:t>
            </a:r>
            <a:endParaRPr sz="1600"/>
          </a:p>
        </p:txBody>
      </p:sp>
      <p:sp>
        <p:nvSpPr>
          <p:cNvPr id="88" name="Google Shape;88;p13"/>
          <p:cNvSpPr txBox="1"/>
          <p:nvPr/>
        </p:nvSpPr>
        <p:spPr>
          <a:xfrm>
            <a:off x="4852550" y="4378524"/>
            <a:ext cx="2487000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成員</a:t>
            </a:r>
            <a:r>
              <a:rPr lang="en-US" sz="1700" b="1" i="0" u="none" strike="noStrike" cap="none" dirty="0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zh-TW" altLang="en-US" sz="1700" b="1" i="0" u="none" strike="noStrike" cap="none">
                <a:solidFill>
                  <a:srgbClr val="052C52"/>
                </a:solidFill>
                <a:latin typeface="Lato"/>
                <a:ea typeface="Lato"/>
                <a:cs typeface="Lato"/>
                <a:sym typeface="Lato"/>
              </a:rPr>
              <a:t>劉東鑫、劉浩揆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343102" y="2377380"/>
            <a:ext cx="36810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1. 專案簡介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895850" y="3939480"/>
            <a:ext cx="2400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重新定義旅程的起點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776537"/>
            <a:ext cx="52387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76537"/>
            <a:ext cx="52387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6202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傳統旅遊的痛點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81775" y="3071812"/>
            <a:ext cx="488061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我們的創新解決方案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2872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34302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資訊過載：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網路遊記繁雜，難以快速抉擇。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2872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34302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缺乏連結：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景點推薦往往忽視旅者當下的心境。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2872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34302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固定行程：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缺乏彈性，難以應對臨時的情緒變化。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848475" y="35861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962775" y="35861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情感驅動：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以「心情」為核心的動態推薦邏輯。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848475" y="38909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962775" y="38909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賦能：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利用 Gemini 模型即時分析複雜語義。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48475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4195762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在地特色：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深耕彰化，挖掘隱藏版美食與秘境。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4762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專案背景與核心目標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666750" y="476250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343102" y="2377380"/>
            <a:ext cx="368108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2. 設計思路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95850" y="3939480"/>
            <a:ext cx="2400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以人為本，智慧導航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409825"/>
            <a:ext cx="342900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41069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沉浸式體驗</a:t>
            </a:r>
            <a:endParaRPr sz="18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1009650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採「一頁一題」設計，減少認知負荷，讓使用者專注於當下感受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1800"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4655820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混合分析邏輯</a:t>
            </a:r>
            <a:endParaRPr sz="2800"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4744948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結合「10題</a:t>
            </a:r>
            <a:r>
              <a:rPr lang="zh-TW" alt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通用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測驗」與「1題</a:t>
            </a:r>
            <a:r>
              <a:rPr lang="zh-TW" alt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客製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化描述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」，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全面捕捉心理輪廓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1800"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8370570" y="3343812"/>
            <a:ext cx="28803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無縫銜接導航</a:t>
            </a:r>
            <a:endParaRPr sz="28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8439150" y="3820062"/>
            <a:ext cx="27432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推薦結果直接連動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Google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Maps，將「心動」轉化為「行動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」。</a:t>
            </a:r>
            <a:endParaRPr sz="1800"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3400" y="2780551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18150" y="2729181"/>
            <a:ext cx="35569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2900" y="2790825"/>
            <a:ext cx="3556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57250" y="47625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UX 互動設計三大支柱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66750" y="476250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193100" y="2662683"/>
            <a:ext cx="7500300" cy="105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2148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階段一</a:t>
            </a:r>
            <a:r>
              <a:rPr lang="en-US" sz="2148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通過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 題</a:t>
            </a:r>
            <a:r>
              <a:rPr lang="zh-TW" altLang="en-US" sz="2148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里克特五分量表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初步定位情緒維度（如：疲憊度、冒險意願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）。</a:t>
            </a:r>
            <a:endParaRPr sz="2004"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1193100" y="3753678"/>
            <a:ext cx="75003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階段二</a:t>
            </a:r>
            <a:r>
              <a:rPr lang="en-US" sz="2148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使用者文字描述（加碼題）提供關鍵細節，AI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進行二次加權處理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2004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1193100" y="4812391"/>
            <a:ext cx="7500300" cy="105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階段三</a:t>
            </a:r>
            <a:r>
              <a:rPr lang="en-US" sz="2148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生成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JSON 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格式推薦列表，包含景點名稱、推薦</a:t>
            </a:r>
            <a:r>
              <a:rPr lang="zh-TW" alt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程度與</a:t>
            </a:r>
            <a:r>
              <a:rPr lang="en-US" sz="2148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契合原因</a:t>
            </a:r>
            <a:r>
              <a:rPr lang="en-US" sz="2148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sz="2004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990600" y="786189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AI </a:t>
            </a:r>
            <a:r>
              <a:rPr lang="en-US" sz="2850" b="1" i="0" u="none" strike="noStrike" cap="none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心情判斷引擎邏輯</a:t>
            </a:r>
            <a:endParaRPr dirty="0"/>
          </a:p>
        </p:txBody>
      </p:sp>
      <p:sp>
        <p:nvSpPr>
          <p:cNvPr id="159" name="Google Shape;159;p18"/>
          <p:cNvSpPr/>
          <p:nvPr/>
        </p:nvSpPr>
        <p:spPr>
          <a:xfrm>
            <a:off x="713133" y="785675"/>
            <a:ext cx="95250" cy="485775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77CB756-94F8-77D2-035B-49250D8D2A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158" b="13106"/>
          <a:stretch>
            <a:fillRect/>
          </a:stretch>
        </p:blipFill>
        <p:spPr>
          <a:xfrm>
            <a:off x="4689199" y="565388"/>
            <a:ext cx="7067550" cy="2064026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923F251A-3BA4-0D2C-CE2C-96E98CA36228}"/>
              </a:ext>
            </a:extLst>
          </p:cNvPr>
          <p:cNvSpPr/>
          <p:nvPr/>
        </p:nvSpPr>
        <p:spPr>
          <a:xfrm rot="19131688">
            <a:off x="4222680" y="2175250"/>
            <a:ext cx="536714" cy="485775"/>
          </a:xfrm>
          <a:prstGeom prst="rightArrow">
            <a:avLst>
              <a:gd name="adj1" fmla="val 50000"/>
              <a:gd name="adj2" fmla="val 759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4343102" y="2377380"/>
            <a:ext cx="368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3. 應用工具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895850" y="3939480"/>
            <a:ext cx="240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尖端科技的整合應用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2084486" y="3495675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227486" y="3495675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022181" y="3495675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084486" y="4191000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227486" y="4191000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022181" y="4191000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084486" y="4886325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227486" y="4886325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022181" y="4886325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084486" y="5581650"/>
            <a:ext cx="1143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227486" y="5581650"/>
            <a:ext cx="279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022181" y="5581650"/>
            <a:ext cx="4085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專案技術開發工具表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6750" y="476250"/>
            <a:ext cx="95400" cy="485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83BE590-C157-C75C-24FB-F85B393E6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84903"/>
              </p:ext>
            </p:extLst>
          </p:nvPr>
        </p:nvGraphicFramePr>
        <p:xfrm>
          <a:off x="1335642" y="1196228"/>
          <a:ext cx="9647436" cy="5128780"/>
        </p:xfrm>
        <a:graphic>
          <a:graphicData uri="http://schemas.openxmlformats.org/drawingml/2006/table">
            <a:tbl>
              <a:tblPr firstRow="1" bandRow="1">
                <a:tableStyleId>{E856BDAA-27E6-4E42-8680-DBA609D55BC1}</a:tableStyleId>
              </a:tblPr>
              <a:tblGrid>
                <a:gridCol w="2092718">
                  <a:extLst>
                    <a:ext uri="{9D8B030D-6E8A-4147-A177-3AD203B41FA5}">
                      <a16:colId xmlns:a16="http://schemas.microsoft.com/office/drawing/2014/main" val="2726762149"/>
                    </a:ext>
                  </a:extLst>
                </a:gridCol>
                <a:gridCol w="4338906">
                  <a:extLst>
                    <a:ext uri="{9D8B030D-6E8A-4147-A177-3AD203B41FA5}">
                      <a16:colId xmlns:a16="http://schemas.microsoft.com/office/drawing/2014/main" val="136369410"/>
                    </a:ext>
                  </a:extLst>
                </a:gridCol>
                <a:gridCol w="3215812">
                  <a:extLst>
                    <a:ext uri="{9D8B030D-6E8A-4147-A177-3AD203B41FA5}">
                      <a16:colId xmlns:a16="http://schemas.microsoft.com/office/drawing/2014/main" val="4013401281"/>
                    </a:ext>
                  </a:extLst>
                </a:gridCol>
              </a:tblGrid>
              <a:tr h="65340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類別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工具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平台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主要用途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1763501019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人工智慧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Gemini </a:t>
                      </a:r>
                      <a:r>
                        <a:rPr lang="en-US" altLang="zh-TW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語義分析、動態景點生成與推薦理由撰寫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4093096813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前端技術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HTML5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互動介面開發、非同步 API 調用 (Fetch)</a:t>
                      </a:r>
                      <a:endParaRPr sz="180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1601371023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外部服務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Maps URL API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地點導航連結、地理位置資訊整合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3833281107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8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cs typeface="Lato"/>
                          <a:sym typeface="Arial"/>
                        </a:rPr>
                        <a:t>開發工具</a:t>
                      </a:r>
                      <a:endParaRPr sz="1800" b="1" i="0" u="none" strike="noStrike" cap="none" dirty="0">
                        <a:solidFill>
                          <a:srgbClr val="334155"/>
                        </a:solidFill>
                        <a:latin typeface="Lato"/>
                        <a:ea typeface="Lato"/>
                        <a:cs typeface="Lato"/>
                        <a:sym typeface="Arial"/>
                      </a:endParaRPr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Visual Studio Code</a:t>
                      </a:r>
                      <a:endParaRPr sz="1800" dirty="0">
                        <a:solidFill>
                          <a:schemeClr val="bg2">
                            <a:lumMod val="5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Lato" panose="020F0502020204030203" pitchFamily="34" charset="0"/>
                          <a:cs typeface="Lato" panose="020F0502020204030203" pitchFamily="34" charset="0"/>
                        </a:rPr>
                        <a:t>程式開發與除錯</a:t>
                      </a:r>
                      <a:endParaRPr sz="1800" dirty="0">
                        <a:solidFill>
                          <a:schemeClr val="bg2">
                            <a:lumMod val="50000"/>
                          </a:schemeClr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732728972"/>
                  </a:ext>
                </a:extLst>
              </a:tr>
              <a:tr h="895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80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測試環境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(HTTP Server)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本機伺服器環境架設，解決</a:t>
                      </a:r>
                      <a:r>
                        <a:rPr lang="en-US" sz="18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CORS </a:t>
                      </a:r>
                      <a:r>
                        <a:rPr lang="en-US" sz="180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跨域問題</a:t>
                      </a:r>
                      <a:endParaRPr sz="1800" dirty="0"/>
                    </a:p>
                  </a:txBody>
                  <a:tcPr marL="64741" marR="64741" marT="25896" marB="25896" anchor="ctr"/>
                </a:tc>
                <a:extLst>
                  <a:ext uri="{0D108BD9-81ED-4DB2-BD59-A6C34878D82A}">
                    <a16:rowId xmlns:a16="http://schemas.microsoft.com/office/drawing/2014/main" val="641836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343102" y="2377380"/>
            <a:ext cx="3681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5400" b="1" i="0" u="none" strike="noStrike" cap="none" dirty="0" err="1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目前進度</a:t>
            </a:r>
            <a:endParaRPr dirty="0"/>
          </a:p>
        </p:txBody>
      </p:sp>
      <p:sp>
        <p:nvSpPr>
          <p:cNvPr id="197" name="Google Shape;197;p21"/>
          <p:cNvSpPr/>
          <p:nvPr/>
        </p:nvSpPr>
        <p:spPr>
          <a:xfrm>
            <a:off x="5619750" y="3577530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029200" y="3939480"/>
            <a:ext cx="21336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CFAF0"/>
                </a:solidFill>
                <a:latin typeface="Lato"/>
                <a:ea typeface="Lato"/>
                <a:cs typeface="Lato"/>
                <a:sym typeface="Lato"/>
              </a:rPr>
              <a:t>現狀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AF0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666750" y="3862387"/>
            <a:ext cx="10858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857250" y="47625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專案開發里程碑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66750" y="476250"/>
            <a:ext cx="95400" cy="4857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27056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第一階段</a:t>
            </a:r>
            <a:endParaRPr sz="1800"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876300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問卷邏輯開發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彰化景點資料蒐集</a:t>
            </a:r>
            <a:endParaRPr sz="1800" dirty="0"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9870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3650177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第二階段</a:t>
            </a:r>
            <a:endParaRPr sz="18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3650177" y="3700462"/>
            <a:ext cx="2068199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API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對接測試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解決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404/400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錯誤</a:t>
            </a:r>
            <a:endParaRPr sz="1800" dirty="0"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2991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6473297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第三階段</a:t>
            </a:r>
            <a:endParaRPr sz="1800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6522541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介面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UI/UX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優化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一頁一題流暢切換</a:t>
            </a:r>
            <a:endParaRPr sz="1800" dirty="0"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6112" y="3090862"/>
            <a:ext cx="238884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9296418" y="3300412"/>
            <a:ext cx="206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E67E22"/>
                </a:solidFill>
                <a:latin typeface="Poppins"/>
                <a:ea typeface="Poppins"/>
                <a:cs typeface="Poppins"/>
                <a:sym typeface="Poppins"/>
              </a:rPr>
              <a:t>當前狀態</a:t>
            </a:r>
            <a:endParaRPr sz="1800"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9345662" y="3700462"/>
            <a:ext cx="196980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功能全線完工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進入最終測試階段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76250"/>
            <a:ext cx="10858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3986950" y="2822430"/>
            <a:ext cx="440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lang="en-US" sz="5400" b="1" i="0" u="none" strike="noStrike" cap="none" dirty="0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5400" b="1" i="0" u="none" strike="noStrike" cap="none" dirty="0" err="1">
                <a:solidFill>
                  <a:srgbClr val="FCFAF0"/>
                </a:solidFill>
                <a:latin typeface="Poppins"/>
                <a:ea typeface="Poppins"/>
                <a:cs typeface="Poppins"/>
                <a:sym typeface="Poppins"/>
              </a:rPr>
              <a:t>總結與展望</a:t>
            </a:r>
            <a:endParaRPr dirty="0"/>
          </a:p>
        </p:txBody>
      </p:sp>
      <p:sp>
        <p:nvSpPr>
          <p:cNvPr id="226" name="Google Shape;226;p23"/>
          <p:cNvSpPr/>
          <p:nvPr/>
        </p:nvSpPr>
        <p:spPr>
          <a:xfrm>
            <a:off x="5711350" y="3853755"/>
            <a:ext cx="952500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0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0140" y="3670793"/>
            <a:ext cx="3456947" cy="166149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3090862" y="1912739"/>
            <a:ext cx="6200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052C52"/>
                </a:solidFill>
                <a:latin typeface="Poppins"/>
                <a:ea typeface="Poppins"/>
                <a:cs typeface="Poppins"/>
                <a:sym typeface="Poppins"/>
              </a:rPr>
              <a:t>未來規劃</a:t>
            </a:r>
            <a:endParaRPr sz="1600" dirty="0"/>
          </a:p>
        </p:txBody>
      </p:sp>
      <p:sp>
        <p:nvSpPr>
          <p:cNvPr id="235" name="Google Shape;235;p24"/>
          <p:cNvSpPr txBox="1"/>
          <p:nvPr/>
        </p:nvSpPr>
        <p:spPr>
          <a:xfrm>
            <a:off x="3048000" y="2703314"/>
            <a:ext cx="6096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「讓 AI </a:t>
            </a:r>
            <a:r>
              <a:rPr lang="en-US" sz="24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懂你的心，讓旅程更有溫度</a:t>
            </a:r>
            <a:r>
              <a:rPr lang="en-US" sz="24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」</a:t>
            </a:r>
            <a:endParaRPr dirty="0"/>
          </a:p>
        </p:txBody>
      </p:sp>
      <p:sp>
        <p:nvSpPr>
          <p:cNvPr id="236" name="Google Shape;236;p24"/>
          <p:cNvSpPr txBox="1"/>
          <p:nvPr/>
        </p:nvSpPr>
        <p:spPr>
          <a:xfrm>
            <a:off x="2724250" y="3778122"/>
            <a:ext cx="31912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/>
              <a:t>不限地區</a:t>
            </a:r>
            <a:endParaRPr sz="2800"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2724250" y="4392848"/>
            <a:ext cx="3191236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加入</a:t>
            </a:r>
            <a:r>
              <a:rPr lang="en-US" altLang="zh-TW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GPS</a:t>
            </a: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系統</a:t>
            </a:r>
            <a:endParaRPr lang="en-US" altLang="zh-TW" sz="20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景點資料庫擴展至全台</a:t>
            </a:r>
            <a:endParaRPr sz="2000" dirty="0"/>
          </a:p>
        </p:txBody>
      </p:sp>
      <p:pic>
        <p:nvPicPr>
          <p:cNvPr id="2" name="Google Shape;232;p24" descr="image.png">
            <a:extLst>
              <a:ext uri="{FF2B5EF4-FFF2-40B4-BE49-F238E27FC236}">
                <a16:creationId xmlns:a16="http://schemas.microsoft.com/office/drawing/2014/main" id="{7D3318E8-107E-E1C7-5EEE-A7F058940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8769" y="3670793"/>
            <a:ext cx="3456947" cy="16614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6;p24">
            <a:extLst>
              <a:ext uri="{FF2B5EF4-FFF2-40B4-BE49-F238E27FC236}">
                <a16:creationId xmlns:a16="http://schemas.microsoft.com/office/drawing/2014/main" id="{44FDE08E-60C5-F83D-162B-8E44809DD561}"/>
              </a:ext>
            </a:extLst>
          </p:cNvPr>
          <p:cNvSpPr txBox="1"/>
          <p:nvPr/>
        </p:nvSpPr>
        <p:spPr>
          <a:xfrm>
            <a:off x="6441781" y="3807234"/>
            <a:ext cx="319123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/>
              <a:t>使用者回饋</a:t>
            </a:r>
            <a:endParaRPr sz="2800" dirty="0"/>
          </a:p>
        </p:txBody>
      </p:sp>
      <p:sp>
        <p:nvSpPr>
          <p:cNvPr id="4" name="Google Shape;237;p24">
            <a:extLst>
              <a:ext uri="{FF2B5EF4-FFF2-40B4-BE49-F238E27FC236}">
                <a16:creationId xmlns:a16="http://schemas.microsoft.com/office/drawing/2014/main" id="{2C1AF451-EDA2-54F4-4293-B9D2A16D4A55}"/>
              </a:ext>
            </a:extLst>
          </p:cNvPr>
          <p:cNvSpPr txBox="1"/>
          <p:nvPr/>
        </p:nvSpPr>
        <p:spPr>
          <a:xfrm>
            <a:off x="6441781" y="4421960"/>
            <a:ext cx="3191236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根據對結果的滿意度</a:t>
            </a:r>
            <a:endParaRPr lang="en-US" altLang="zh-TW" sz="2000" b="0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dirty="0">
                <a:solidFill>
                  <a:srgbClr val="64748B"/>
                </a:solidFill>
                <a:latin typeface="Lato"/>
                <a:cs typeface="Lato"/>
                <a:sym typeface="Lato"/>
              </a:rPr>
              <a:t>持續檢討修正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275</Words>
  <Application>Microsoft Office PowerPoint</Application>
  <PresentationFormat>寬螢幕</PresentationFormat>
  <Paragraphs>74</Paragraphs>
  <Slides>12</Slides>
  <Notes>12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Lato</vt:lpstr>
      <vt:lpstr>Poppins</vt:lpstr>
      <vt:lpstr>Calibri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鑫 ㅤ</cp:lastModifiedBy>
  <cp:revision>5</cp:revision>
  <dcterms:modified xsi:type="dcterms:W3CDTF">2026-06-04T05:48:29Z</dcterms:modified>
</cp:coreProperties>
</file>